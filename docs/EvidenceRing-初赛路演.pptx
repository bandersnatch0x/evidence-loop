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7"/>
  </p:sldIdLst>
  <p:sldSz cx="12191365" cy="6858000"/>
  <p:notesSz cx="6858000" cy="1219136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Relationship Id="rId17" Type="http://schemas.openxmlformats.org/officeDocument/2006/relationships/slide" Target="slides/slide1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280160"/>
            <a:ext cx="10515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GOAI 杭州全球人工智能技术创新大赛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0515600" cy="7772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altLang="zh-CN" sz="48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EvidenceRing</a:t>
            </a:r>
            <a:endParaRPr lang="en-US" altLang="zh-CN" sz="4800" b="1" dirty="0">
              <a:solidFill>
                <a:srgbClr val="F8FAFC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7" name="Text 5"/>
          <p:cNvSpPr/>
          <p:nvPr/>
        </p:nvSpPr>
        <p:spPr>
          <a:xfrm>
            <a:off x="731520" y="2606040"/>
            <a:ext cx="105156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38BDF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循证实训 Agent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246120"/>
            <a:ext cx="10515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提交 → 证据 → 诊断 → 再验证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1520" y="4023360"/>
            <a:ext cx="3291840" cy="1097280"/>
          </a:xfrm>
          <a:prstGeom prst="roundRect">
            <a:avLst>
              <a:gd name="adj" fmla="val 8333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160520"/>
            <a:ext cx="2926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赛道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4480560"/>
            <a:ext cx="29260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Boundless Agents · AI+教育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97680" y="4023360"/>
            <a:ext cx="3291840" cy="1097280"/>
          </a:xfrm>
          <a:prstGeom prst="roundRect">
            <a:avLst>
              <a:gd name="adj" fmla="val 8333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80560" y="4160520"/>
            <a:ext cx="2926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定位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80560" y="4480560"/>
            <a:ext cx="29260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证据优先的编程实训闭环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863840" y="4023360"/>
            <a:ext cx="3291840" cy="1097280"/>
          </a:xfrm>
          <a:prstGeom prst="roundRect">
            <a:avLst>
              <a:gd name="adj" fmla="val 8333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0" y="4160520"/>
            <a:ext cx="2926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许可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046720" y="4480560"/>
            <a:ext cx="29260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Apache-2.0 可复用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" y="5486400"/>
            <a:ext cx="105156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初赛材料 · 方案 PPT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问题：实训反馈缺证据、不可复验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当前 AI 助教与传统 OJ 都没把“评分—解释—下一动作”闭环打通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5532120" cy="2011680"/>
          </a:xfrm>
          <a:prstGeom prst="roundRect">
            <a:avLst>
              <a:gd name="adj" fmla="val 4545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6459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F172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709928"/>
            <a:ext cx="5029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17320" y="1691640"/>
            <a:ext cx="42976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自动批改只给对错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22960" y="2331720"/>
            <a:ext cx="493776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学员看到 Fail，却不知道为什么错、下一题该修什么。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309360" y="1325880"/>
            <a:ext cx="5532120" cy="2011680"/>
          </a:xfrm>
          <a:prstGeom prst="roundRect">
            <a:avLst>
              <a:gd name="adj" fmla="val 4545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37960" y="164592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F172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37960" y="1709928"/>
            <a:ext cx="5029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223760" y="1691640"/>
            <a:ext cx="42976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AI 讲评易幻觉改分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629400" y="2331720"/>
            <a:ext cx="493776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模型直接给分与讲解时，容易捏造证据、越权改分。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2920" y="3566160"/>
            <a:ext cx="5532120" cy="2011680"/>
          </a:xfrm>
          <a:prstGeom prst="roundRect">
            <a:avLst>
              <a:gd name="adj" fmla="val 4545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388620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F172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3950208"/>
            <a:ext cx="5029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17320" y="3931920"/>
            <a:ext cx="42976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教师缺行动队列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22960" y="4572000"/>
            <a:ext cx="493776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班级层面看不到可干预的薄弱点与证据队列。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09360" y="3566160"/>
            <a:ext cx="5532120" cy="2011680"/>
          </a:xfrm>
          <a:prstGeom prst="roundRect">
            <a:avLst>
              <a:gd name="adj" fmla="val 4545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37960" y="388620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0F172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3950208"/>
            <a:ext cx="5029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223760" y="3931920"/>
            <a:ext cx="42976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OJ 有测但无诊断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629400" y="4572000"/>
            <a:ext cx="493776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传统在线评测客观，但缺少 Agent 式任务编排。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7200" y="6492240"/>
            <a:ext cx="86868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EvidenceRing · GOAI Boundless Agents · AI+教育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332720" y="6492240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 / 11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方案：证据优先，模型只解释不改分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把评分权留给测试与量规，把解释权留给受证据约束的反馈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371600"/>
            <a:ext cx="3611880" cy="1097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737360"/>
            <a:ext cx="31546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证据驱动评分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31520" y="2560320"/>
            <a:ext cx="3154680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公开/隐藏测试 + 静态检查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分数 = 通过证据权重求和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43400" y="137160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43400" y="1371600"/>
            <a:ext cx="3611880" cy="10972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1737360"/>
            <a:ext cx="31546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模型只组织反馈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72000" y="2560320"/>
            <a:ext cx="3154680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LLM 仅生成 summary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失败回退本地策略，永不改分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83880" y="137160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83880" y="1371600"/>
            <a:ext cx="3611880" cy="1097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1737360"/>
            <a:ext cx="31546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教师只获建议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412480" y="2560320"/>
            <a:ext cx="3154680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班级学情与干预队列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不自动写正式成绩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02920" y="4754880"/>
            <a:ext cx="111556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硬约束：评分可复现 · 解释可溯源 · 写分需人工确认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" y="6492240"/>
            <a:ext cx="86868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EvidenceRing · GOAI Boundless Agents · AI+教育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332720" y="6492240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 / 11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目标用户与价值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三类角色共享同一套证据闭环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11155680" cy="1371600"/>
          </a:xfrm>
          <a:prstGeom prst="roundRect">
            <a:avLst>
              <a:gd name="adj" fmla="val 6667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600200"/>
            <a:ext cx="2560320" cy="73152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737360"/>
            <a:ext cx="23774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编程初学者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566160" y="1554480"/>
            <a:ext cx="47548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即时、可解释、可复现的作业反馈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412480" y="1554480"/>
            <a:ext cx="29260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知道错在哪 · 下一题修什么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" y="2834640"/>
            <a:ext cx="11155680" cy="1371600"/>
          </a:xfrm>
          <a:prstGeom prst="roundRect">
            <a:avLst>
              <a:gd name="adj" fmla="val 6667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3154680"/>
            <a:ext cx="2560320" cy="73152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291840"/>
            <a:ext cx="23774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实训教师 / 助教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66160" y="3108960"/>
            <a:ext cx="47548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班级学情 + 薄弱点关注队列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412480" y="3108960"/>
            <a:ext cx="29260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按证据干预，而不是泛聊天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2920" y="4389120"/>
            <a:ext cx="11155680" cy="1371600"/>
          </a:xfrm>
          <a:prstGeom prst="roundRect">
            <a:avLst>
              <a:gd name="adj" fmla="val 6667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4709160"/>
            <a:ext cx="2560320" cy="73152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846320"/>
            <a:ext cx="23774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课程产品团队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566160" y="4663440"/>
            <a:ext cx="47548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可复用 Agent 模板与量规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412480" y="4663440"/>
            <a:ext cx="29260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不是一次性演示脚本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6492240"/>
            <a:ext cx="86868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EvidenceRing · GOAI Boundless Agents · AI+教育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332720" y="6492240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 / 11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任务闭环：一次可演示、可验证的 Agent 流程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满足 Boundless Agents 对“任务理解—工具调用—结果交付”的要求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554480"/>
            <a:ext cx="2194560" cy="3200400"/>
          </a:xfrm>
          <a:prstGeom prst="roundRect">
            <a:avLst>
              <a:gd name="adj" fmla="val 4167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1828800"/>
            <a:ext cx="731520" cy="73152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965960"/>
            <a:ext cx="73152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02920" y="2788920"/>
            <a:ext cx="192024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提交代码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3520440"/>
            <a:ext cx="192024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学员提交 Python 函数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331720" y="283464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2697480" y="1554480"/>
            <a:ext cx="2194560" cy="3200400"/>
          </a:xfrm>
          <a:prstGeom prst="roundRect">
            <a:avLst>
              <a:gd name="adj" fmla="val 4167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29000" y="1828800"/>
            <a:ext cx="731520" cy="73152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29000" y="1965960"/>
            <a:ext cx="73152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834640" y="2788920"/>
            <a:ext cx="192024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受限运行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834640" y="3520440"/>
            <a:ext cx="192024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公开/隐藏测 + 静态检查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663440" y="283464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029200" y="1554480"/>
            <a:ext cx="2194560" cy="3200400"/>
          </a:xfrm>
          <a:prstGeom prst="roundRect">
            <a:avLst>
              <a:gd name="adj" fmla="val 4167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1828800"/>
            <a:ext cx="731520" cy="73152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60720" y="1965960"/>
            <a:ext cx="73152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166360" y="2788920"/>
            <a:ext cx="192024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量规评分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166360" y="3520440"/>
            <a:ext cx="192024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证据映射维度分与总分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995160" y="283464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→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7360920" y="1554480"/>
            <a:ext cx="2194560" cy="3200400"/>
          </a:xfrm>
          <a:prstGeom prst="roundRect">
            <a:avLst>
              <a:gd name="adj" fmla="val 4167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92440" y="1828800"/>
            <a:ext cx="731520" cy="73152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92440" y="1965960"/>
            <a:ext cx="73152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498080" y="2788920"/>
            <a:ext cx="192024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知识诊断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498080" y="3520440"/>
            <a:ext cx="192024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失败证据 → 薄弱概念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326880" y="283464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→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9692640" y="1554480"/>
            <a:ext cx="2194560" cy="3200400"/>
          </a:xfrm>
          <a:prstGeom prst="roundRect">
            <a:avLst>
              <a:gd name="adj" fmla="val 4167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424160" y="1828800"/>
            <a:ext cx="731520" cy="731520"/>
          </a:xfrm>
          <a:prstGeom prst="ellipse">
            <a:avLst/>
          </a:prstGeom>
          <a:solidFill>
            <a:srgbClr val="0F172A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424160" y="1965960"/>
            <a:ext cx="73152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5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9829800" y="2788920"/>
            <a:ext cx="192024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修复再验证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829800" y="3520440"/>
            <a:ext cx="192024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干预任务 → 重提 → 学情更新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57200" y="6492240"/>
            <a:ext cx="86868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EvidenceRing · GOAI Boundless Agents · AI+教育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0332720" y="6492240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5 / 11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Demo：80 分缺陷 → 100 分修复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可复现证据路径，约 3 分钟完成闭环演示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3611880" cy="1325880"/>
          </a:xfrm>
          <a:prstGeom prst="roundRect">
            <a:avLst>
              <a:gd name="adj" fmla="val 6897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325880"/>
            <a:ext cx="32461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缺陷提交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1600200"/>
            <a:ext cx="324612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80 分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85800" y="2103120"/>
            <a:ext cx="32461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7/8 证据 · 空序列诊断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43400" y="1234440"/>
            <a:ext cx="3611880" cy="1325880"/>
          </a:xfrm>
          <a:prstGeom prst="roundRect">
            <a:avLst>
              <a:gd name="adj" fmla="val 6897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1325880"/>
            <a:ext cx="32461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应用修复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26280" y="1600200"/>
            <a:ext cx="324612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4D3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100 分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26280" y="2103120"/>
            <a:ext cx="32461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8/8 证据 · +20 提升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83880" y="1234440"/>
            <a:ext cx="3611880" cy="1325880"/>
          </a:xfrm>
          <a:prstGeom prst="roundRect">
            <a:avLst>
              <a:gd name="adj" fmla="val 6897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66760" y="1325880"/>
            <a:ext cx="32461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班级同步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366760" y="1600200"/>
            <a:ext cx="324612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学情更新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366760" y="2103120"/>
            <a:ext cx="32461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关注队列实时刷新</a:t>
            </a:r>
            <a:endParaRPr lang="en-US" sz="1300" dirty="0"/>
          </a:p>
        </p:txBody>
      </p:sp>
      <p:pic>
        <p:nvPicPr>
          <p:cNvPr id="18" name="Image 0" descr="D:\code_space\evidence-loop\output\playwright\desktop-closed-loo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788920"/>
            <a:ext cx="7132320" cy="3383280"/>
          </a:xfrm>
          <a:prstGeom prst="rect">
            <a:avLst/>
          </a:prstGeom>
        </p:spPr>
      </p:pic>
      <p:pic>
        <p:nvPicPr>
          <p:cNvPr id="19" name="Image 1" descr="D:\code_space\evidence-loop\output\playwright\desktop-coh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2788920"/>
            <a:ext cx="3840480" cy="338328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457200" y="6492240"/>
            <a:ext cx="86868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EvidenceRing · GOAI Boundless Agents · AI+教育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10332720" y="6492240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6 / 11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技术架构：EvaluationAgent 五步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React + Node HTTP · Python 子进程 · 量规 / 知识库 · 可选 LLM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11155680" cy="1005840"/>
          </a:xfrm>
          <a:prstGeom prst="roundRect">
            <a:avLst>
              <a:gd name="adj" fmla="val 9091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280160"/>
            <a:ext cx="109728" cy="10058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508760"/>
            <a:ext cx="219456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交互层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200400" y="1463040"/>
            <a:ext cx="813816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学习工作台 · 班级学情 · 项目透明度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Vite + React 19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2423160"/>
            <a:ext cx="11155680" cy="1005840"/>
          </a:xfrm>
          <a:prstGeom prst="roundRect">
            <a:avLst>
              <a:gd name="adj" fmla="val 9091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2423160"/>
            <a:ext cx="109728" cy="10058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2651760"/>
            <a:ext cx="219456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Agent 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200400" y="2606040"/>
            <a:ext cx="813816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assignment.retrieve → python.safe-runner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rubric.score → knowledge.retrieve → feedback.compose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3566160"/>
            <a:ext cx="11155680" cy="1005840"/>
          </a:xfrm>
          <a:prstGeom prst="roundRect">
            <a:avLst>
              <a:gd name="adj" fmla="val 9091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3566160"/>
            <a:ext cx="109728" cy="10058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3794760"/>
            <a:ext cx="219456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证据层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00400" y="3749040"/>
            <a:ext cx="813816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公开/隐藏测试 · 静态契约检查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分数 = Σ 通过证据权重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02920" y="4709160"/>
            <a:ext cx="11155680" cy="1005840"/>
          </a:xfrm>
          <a:prstGeom prst="roundRect">
            <a:avLst>
              <a:gd name="adj" fmla="val 9091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709160"/>
            <a:ext cx="109728" cy="10058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4937760"/>
            <a:ext cx="219456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反馈层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3200400" y="4892040"/>
            <a:ext cx="813816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本地规则策略默认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LLM 可选，仅输出 summary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57200" y="6492240"/>
            <a:ext cx="86868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EvidenceRing · GOAI Boundless Agents · AI+教育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332720" y="6492240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7 / 11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安全与合规边界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演示可用、边界清晰，生产前替换隔离与存储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5532120" cy="2011680"/>
          </a:xfrm>
          <a:prstGeom prst="roundRect">
            <a:avLst>
              <a:gd name="adj" fmla="val 4545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691640"/>
            <a:ext cx="49377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匿名样例数据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2286000"/>
            <a:ext cx="493776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不连接真实学籍 / LMS，避免隐私与授权风险。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309360" y="1325880"/>
            <a:ext cx="5532120" cy="2011680"/>
          </a:xfrm>
          <a:prstGeom prst="roundRect">
            <a:avLst>
              <a:gd name="adj" fmla="val 4545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1691640"/>
            <a:ext cx="49377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模型永不改分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2286000"/>
            <a:ext cx="493776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评分权固定在测试证据与量规；反馈失败自动回退。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02920" y="3566160"/>
            <a:ext cx="5532120" cy="2011680"/>
          </a:xfrm>
          <a:prstGeom prst="roundRect">
            <a:avLst>
              <a:gd name="adj" fmla="val 4545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931920"/>
            <a:ext cx="49377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子进程仅 Demo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22960" y="4526280"/>
            <a:ext cx="493776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本地 Python runner 适合受控演示，非生产沙箱。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309360" y="3566160"/>
            <a:ext cx="5532120" cy="2011680"/>
          </a:xfrm>
          <a:prstGeom prst="roundRect">
            <a:avLst>
              <a:gd name="adj" fmla="val 4545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29400" y="3931920"/>
            <a:ext cx="49377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生产替换路径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629400" y="4526280"/>
            <a:ext cx="493776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容器/微虚拟机隔离 + 数据库持久化 + 人工确认写分。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57200" y="6492240"/>
            <a:ext cx="86868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EvidenceRing · GOAI Boundless Agents · AI+教育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332720" y="6492240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 / 11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开放复用与差异化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Apache-2.0 · 完整文档 · 可复制模板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280160"/>
            <a:ext cx="2011680" cy="5029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353312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维度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651760" y="1280160"/>
            <a:ext cx="2560320" cy="5029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51760" y="1353312"/>
            <a:ext cx="2560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常见 AI 助教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212080" y="1280160"/>
            <a:ext cx="2560320" cy="5029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12080" y="1353312"/>
            <a:ext cx="2560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传统 OJ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772400" y="1280160"/>
            <a:ext cx="3291840" cy="5029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0" y="1353312"/>
            <a:ext cx="3291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EvidenceRing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1783080"/>
            <a:ext cx="2011680" cy="640080"/>
          </a:xfrm>
          <a:prstGeom prst="rect">
            <a:avLst/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1920240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评分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651760" y="1783080"/>
            <a:ext cx="2560320" cy="640080"/>
          </a:xfrm>
          <a:prstGeom prst="rect">
            <a:avLst/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51760" y="1920240"/>
            <a:ext cx="2560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模型主观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212080" y="1783080"/>
            <a:ext cx="2560320" cy="640080"/>
          </a:xfrm>
          <a:prstGeom prst="rect">
            <a:avLst/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12080" y="1920240"/>
            <a:ext cx="2560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测试客观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772400" y="1783080"/>
            <a:ext cx="3291840" cy="640080"/>
          </a:xfrm>
          <a:prstGeom prst="rect">
            <a:avLst/>
          </a:prstGeom>
          <a:solidFill>
            <a:srgbClr val="0F283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0" y="1920240"/>
            <a:ext cx="3291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4D3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测试+量规客观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423160"/>
            <a:ext cx="2011680" cy="640080"/>
          </a:xfrm>
          <a:prstGeom prst="rect">
            <a:avLst/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2560320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解释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651760" y="2423160"/>
            <a:ext cx="2560320" cy="640080"/>
          </a:xfrm>
          <a:prstGeom prst="rect">
            <a:avLst/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51760" y="2560320"/>
            <a:ext cx="2560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易幻觉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212080" y="2423160"/>
            <a:ext cx="2560320" cy="640080"/>
          </a:xfrm>
          <a:prstGeom prst="rect">
            <a:avLst/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12080" y="2560320"/>
            <a:ext cx="2560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通常缺失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772400" y="2423160"/>
            <a:ext cx="3291840" cy="640080"/>
          </a:xfrm>
          <a:prstGeom prst="rect">
            <a:avLst/>
          </a:prstGeom>
          <a:solidFill>
            <a:srgbClr val="0F283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0" y="2560320"/>
            <a:ext cx="3291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4D3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受证据约束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063240"/>
            <a:ext cx="2011680" cy="640080"/>
          </a:xfrm>
          <a:prstGeom prst="rect">
            <a:avLst/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3200400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下一动作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651760" y="3063240"/>
            <a:ext cx="2560320" cy="640080"/>
          </a:xfrm>
          <a:prstGeom prst="rect">
            <a:avLst/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51760" y="3200400"/>
            <a:ext cx="2560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泛化建议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212080" y="3063240"/>
            <a:ext cx="2560320" cy="640080"/>
          </a:xfrm>
          <a:prstGeom prst="rect">
            <a:avLst/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12080" y="3200400"/>
            <a:ext cx="2560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无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772400" y="3063240"/>
            <a:ext cx="3291840" cy="640080"/>
          </a:xfrm>
          <a:prstGeom prst="rect">
            <a:avLst/>
          </a:prstGeom>
          <a:solidFill>
            <a:srgbClr val="0F283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72400" y="3200400"/>
            <a:ext cx="3291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4D3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可验证干预任务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703320"/>
            <a:ext cx="2011680" cy="640080"/>
          </a:xfrm>
          <a:prstGeom prst="rect">
            <a:avLst/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840480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教师角色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651760" y="3703320"/>
            <a:ext cx="2560320" cy="640080"/>
          </a:xfrm>
          <a:prstGeom prst="rect">
            <a:avLst/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51760" y="3840480"/>
            <a:ext cx="2560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旁观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212080" y="3703320"/>
            <a:ext cx="2560320" cy="640080"/>
          </a:xfrm>
          <a:prstGeom prst="rect">
            <a:avLst/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12080" y="3840480"/>
            <a:ext cx="2560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看分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772400" y="3703320"/>
            <a:ext cx="3291840" cy="640080"/>
          </a:xfrm>
          <a:prstGeom prst="rect">
            <a:avLst/>
          </a:prstGeom>
          <a:solidFill>
            <a:srgbClr val="0F283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772400" y="3840480"/>
            <a:ext cx="3291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4D3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看证据与干预队列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640080" y="4343400"/>
            <a:ext cx="2011680" cy="640080"/>
          </a:xfrm>
          <a:prstGeom prst="rect">
            <a:avLst/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0080" y="4480560"/>
            <a:ext cx="20116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合规边界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51760" y="4343400"/>
            <a:ext cx="2560320" cy="640080"/>
          </a:xfrm>
          <a:prstGeom prst="rect">
            <a:avLst/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51760" y="4480560"/>
            <a:ext cx="2560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模糊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5212080" y="4343400"/>
            <a:ext cx="2560320" cy="640080"/>
          </a:xfrm>
          <a:prstGeom prst="rect">
            <a:avLst/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12080" y="4480560"/>
            <a:ext cx="2560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明确但窄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7772400" y="4343400"/>
            <a:ext cx="3291840" cy="640080"/>
          </a:xfrm>
          <a:prstGeom prst="rect">
            <a:avLst/>
          </a:prstGeom>
          <a:solidFill>
            <a:srgbClr val="0F2830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72400" y="4480560"/>
            <a:ext cx="3291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4D39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明确：模型不改分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640080" y="5120640"/>
            <a:ext cx="10972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交付物：README · PRD · 架构 · 合规 · ADR · 质量审查 · 可运行代码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457200" y="6492240"/>
            <a:ext cx="86868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EvidenceRing · GOAI Boundless Agents · AI+教育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10332720" y="6492240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 / 11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路线图与请求支持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初赛交方案，复赛交可运行 Demo，决赛交现场闭环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2743200" cy="3017520"/>
          </a:xfrm>
          <a:prstGeom prst="roundRect">
            <a:avLst>
              <a:gd name="adj" fmla="val 3333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554480"/>
            <a:ext cx="24688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初赛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94360" y="2011680"/>
            <a:ext cx="24688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7/16–8/16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560320"/>
            <a:ext cx="2377440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作品简介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方案 PPT/PDF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可选原型/视频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383280" y="1371600"/>
            <a:ext cx="2743200" cy="3017520"/>
          </a:xfrm>
          <a:prstGeom prst="roundRect">
            <a:avLst>
              <a:gd name="adj" fmla="val 3333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0440" y="1554480"/>
            <a:ext cx="24688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复赛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520440" y="2011680"/>
            <a:ext cx="24688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8/25–9/23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66160" y="2560320"/>
            <a:ext cx="2377440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容器沙箱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数据库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更多任务与运行说明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309360" y="1371600"/>
            <a:ext cx="2743200" cy="3017520"/>
          </a:xfrm>
          <a:prstGeom prst="roundRect">
            <a:avLst>
              <a:gd name="adj" fmla="val 3333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46520" y="1554480"/>
            <a:ext cx="24688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决赛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46520" y="2011680"/>
            <a:ext cx="24688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9/22–9/23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2560320"/>
            <a:ext cx="2377440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现场 Demo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路演答辩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最终工程材料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235440" y="1371600"/>
            <a:ext cx="2743200" cy="3017520"/>
          </a:xfrm>
          <a:prstGeom prst="roundRect">
            <a:avLst>
              <a:gd name="adj" fmla="val 3333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72600" y="1554480"/>
            <a:ext cx="24688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产品化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372600" y="2011680"/>
            <a:ext cx="24688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赛后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18320" y="2560320"/>
            <a:ext cx="2377440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LMS 对接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人工确认写分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课程模板市场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2920" y="4709160"/>
            <a:ext cx="111556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一句话：用可验证证据驱动编程实训，而不是又一个会聊天的助教。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02920" y="5166360"/>
            <a:ext cx="111556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本地演示：cd D:\code_space\evidence-loop  →  npm run dev  →  http://localhost:5280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86868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EvidenceRing · GOAI Boundless Agents · AI+教育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332720" y="6492240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 / 11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56032"/>
            <a:ext cx="1115568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已交付能力（2026-08-14）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749808"/>
            <a:ext cx="111556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初赛方案已齐备；本页为 8/14 交付快照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2743200" cy="3017520"/>
          </a:xfrm>
          <a:prstGeom prst="roundRect">
            <a:avLst>
              <a:gd name="adj" fmla="val 3333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554480"/>
            <a:ext cx="24688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核心闭环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94360" y="2011680"/>
            <a:ext cx="24688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/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560320"/>
            <a:ext cx="2377440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证据打分 · LLM 不改分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练习/测评分流（D1）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教师终裁 + 站内提示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383280" y="1371600"/>
            <a:ext cx="2743200" cy="3017520"/>
          </a:xfrm>
          <a:prstGeom prst="roundRect">
            <a:avLst>
              <a:gd name="adj" fmla="val 3333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0440" y="1554480"/>
            <a:ext cx="24688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工程交付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520440" y="2011680"/>
            <a:ext cx="24688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/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66160" y="2560320"/>
            <a:ext cx="2377440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容器/Docker 沙箱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7 题型 · 9 学科知识点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HMAC 审计链 + PII 扫描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309360" y="1371600"/>
            <a:ext cx="2743200" cy="3017520"/>
          </a:xfrm>
          <a:prstGeom prst="roundRect">
            <a:avLst>
              <a:gd name="adj" fmla="val 3333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46520" y="1554480"/>
            <a:ext cx="24688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决赛加码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46520" y="2011680"/>
            <a:ext cx="24688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/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2560320"/>
            <a:ext cx="2377440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成套服务端交卷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家长端 + 子女绑定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Excel 兼容 CSV 导出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235440" y="1371600"/>
            <a:ext cx="2743200" cy="3017520"/>
          </a:xfrm>
          <a:prstGeom prst="roundRect">
            <a:avLst>
              <a:gd name="adj" fmla="val 3333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72600" y="1554480"/>
            <a:ext cx="24688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2D3E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诚实边界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372600" y="2011680"/>
            <a:ext cx="24688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/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18320" y="2560320"/>
            <a:ext cx="2377440" cy="1463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Demo 假多租户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短信/推送未做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LMS/SIS 对接待做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2920" y="4709160"/>
            <a:ext cx="1115568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8FAF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一句话：用可验证证据驱动编程实训，而不是又一个会聊天的助教。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02920" y="5166360"/>
            <a:ext cx="111556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本地演示：cd D:\code_space\evidence-loop  →  npm run dev  →  http://localhost:5280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86868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EvidenceRing · GOAI Boundless Agents · AI+教育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332720" y="6492240"/>
            <a:ext cx="13716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4A3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 / 11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2168</Words>
  <Application>WPS 演示</Application>
  <PresentationFormat>On-screen Show (16:9)</PresentationFormat>
  <Paragraphs>331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2" baseType="lpstr">
      <vt:lpstr>Arial</vt:lpstr>
      <vt:lpstr>宋体</vt:lpstr>
      <vt:lpstr>Wingdings</vt:lpstr>
      <vt:lpstr>微软雅黑</vt:lpstr>
      <vt:lpstr>微软雅黑</vt:lpstr>
      <vt:lpstr>Consolas</vt:lpstr>
      <vt:lpstr>Consolas</vt:lpstr>
      <vt:lpstr>Consolas</vt:lpstr>
      <vt:lpstr>Calibri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EvidenceLoop · 循证实训 Agent</dc:title>
  <dc:creator>EvidenceLoop Team</dc:creator>
  <dc:subject>GOAI Boundless Agents · AI+教育 初赛路演</dc:subject>
  <cp:lastModifiedBy>夏末远歌</cp:lastModifiedBy>
  <cp:revision>2</cp:revision>
  <dcterms:created xsi:type="dcterms:W3CDTF">2026-07-22T14:20:00Z</dcterms:created>
  <dcterms:modified xsi:type="dcterms:W3CDTF">2026-07-27T01:44:45Z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7A4E9560531A4E57A52EAE6DA722FA9D_12</vt:lpwstr>
  </property>
  <property fmtid="{D5CDD505-2E9C-101B-9397-08002B2CF9AE}" pid="3" name="KSOProductBuildVer">
    <vt:lpwstr>2052-12.1.0.26884</vt:lpwstr>
  </property>
</Properties>
</file>